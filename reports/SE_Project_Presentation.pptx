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9" r:id="rId24"/>
    <p:sldId id="280" r:id="rId25"/>
    <p:sldId id="27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000"/>
    <p:restoredTop sz="75602"/>
  </p:normalViewPr>
  <p:slideViewPr>
    <p:cSldViewPr snapToGrid="0">
      <p:cViewPr varScale="1">
        <p:scale>
          <a:sx n="97" d="100"/>
          <a:sy n="97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9CE526-4719-C34A-8584-B0D39F2E37E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AA389-1918-5947-8731-F38C00EBA1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501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 everyone, Today we will be presenting our project on LLM-Based Automatic Unit Test Generation.</a:t>
            </a:r>
          </a:p>
          <a:p>
            <a:r>
              <a:rPr lang="en-US" dirty="0"/>
              <a:t>I am Siwani and I worked on this with  my great teammates, Saarupya Sunkara and Alexandra Hyatali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20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is built around a 'Focal-Method Approach.</a:t>
            </a:r>
          </a:p>
          <a:p>
            <a:endParaRPr lang="en-US" dirty="0"/>
          </a:p>
          <a:p>
            <a:r>
              <a:rPr lang="en-US" dirty="0"/>
              <a:t>We set out to answer a fundamental question: Can LLM write meaningful tests, or do they just output code that simply </a:t>
            </a:r>
            <a:r>
              <a:rPr lang="en-US" i="1" dirty="0"/>
              <a:t>looks</a:t>
            </a:r>
            <a:r>
              <a:rPr lang="en-US" dirty="0"/>
              <a:t> like a test?</a:t>
            </a:r>
          </a:p>
          <a:p>
            <a:endParaRPr lang="en-US" dirty="0"/>
          </a:p>
          <a:p>
            <a:r>
              <a:rPr lang="en-US" dirty="0"/>
              <a:t>To test this, we utilized the pyMethods2Test dataset, which gave us over 88,000 real method-test pairs.</a:t>
            </a:r>
          </a:p>
          <a:p>
            <a:endParaRPr lang="en-US" dirty="0"/>
          </a:p>
          <a:p>
            <a:r>
              <a:rPr lang="en-US" dirty="0"/>
              <a:t>For the generation engine, we used Llama3, running it locally via </a:t>
            </a:r>
            <a:r>
              <a:rPr lang="en-US" dirty="0" err="1"/>
              <a:t>Ollama</a:t>
            </a:r>
            <a:endParaRPr lang="en-US" dirty="0"/>
          </a:p>
          <a:p>
            <a:endParaRPr lang="en-US" dirty="0"/>
          </a:p>
          <a:p>
            <a:r>
              <a:rPr lang="en-US" dirty="0"/>
              <a:t>Our core technique relied on focal-method prompting, and we specifically tested this across three different context strategies to measure what works best.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28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we get into the AI, let's briefly touch on why unit testing matters in the first place.</a:t>
            </a:r>
          </a:p>
          <a:p>
            <a:endParaRPr lang="en-US" dirty="0"/>
          </a:p>
          <a:p>
            <a:r>
              <a:rPr lang="en-US" dirty="0"/>
              <a:t>Testing is one of the most critical, yet frequently overlooked parts of software development.</a:t>
            </a:r>
          </a:p>
          <a:p>
            <a:endParaRPr lang="en-US" dirty="0"/>
          </a:p>
          <a:p>
            <a:r>
              <a:rPr lang="en-US" dirty="0"/>
              <a:t>First, it helps us catch bugs early. Finding logic errors  before they hit production is important, because fixing them later is roughly 10 times more expensive.</a:t>
            </a:r>
          </a:p>
          <a:p>
            <a:endParaRPr lang="en-US" dirty="0"/>
          </a:p>
          <a:p>
            <a:r>
              <a:rPr lang="en-US" dirty="0"/>
              <a:t>It also enables safe refactoring. Without tests, changing code is a guessing game; with them, developers can move fast with confidence.</a:t>
            </a:r>
          </a:p>
          <a:p>
            <a:endParaRPr lang="en-US" dirty="0"/>
          </a:p>
          <a:p>
            <a:r>
              <a:rPr lang="en-US" dirty="0"/>
              <a:t>Tests also document intended </a:t>
            </a:r>
            <a:r>
              <a:rPr lang="en-US" dirty="0" err="1"/>
              <a:t>behaviour</a:t>
            </a:r>
            <a:r>
              <a:rPr lang="en-US" dirty="0"/>
              <a:t>, serving as living documentation for exactly what a function should do.</a:t>
            </a:r>
          </a:p>
          <a:p>
            <a:endParaRPr lang="en-US" dirty="0"/>
          </a:p>
          <a:p>
            <a:r>
              <a:rPr lang="en-US" dirty="0"/>
              <a:t>Ultimately, projects with high test coverage reduce long-term maintenance cost, lower defect rates, and make onboarding new developers much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77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Despite all those benefits, the industry faces a massive manual testing bottleneck and writing unit tests remains one of the most painful parts of a developer's day.</a:t>
            </a:r>
          </a:p>
          <a:p>
            <a:endParaRPr lang="en-US" dirty="0"/>
          </a:p>
          <a:p>
            <a:r>
              <a:rPr lang="en-US" dirty="0"/>
              <a:t>Developers spend around 20% of their time on testing tasks, and 30 to 50% of the tests they write are just repetitive boilerplate.</a:t>
            </a:r>
          </a:p>
          <a:p>
            <a:endParaRPr lang="en-US" dirty="0"/>
          </a:p>
          <a:p>
            <a:r>
              <a:rPr lang="en-US" dirty="0"/>
              <a:t>It is time-consuming and tedious, requiring you to carefully map out edge cases and set up predictable scaffolding over and over.</a:t>
            </a:r>
          </a:p>
          <a:p>
            <a:endParaRPr lang="en-US" dirty="0"/>
          </a:p>
          <a:p>
            <a:r>
              <a:rPr lang="en-US" dirty="0"/>
              <a:t>Because of this friction, the number one reason tests are skipped is tight deadlines and pressure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53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can LLMs help solve this? The promise is definitely there.</a:t>
            </a:r>
          </a:p>
          <a:p>
            <a:endParaRPr lang="en-US" dirty="0"/>
          </a:p>
          <a:p>
            <a:r>
              <a:rPr lang="en-US" dirty="0"/>
              <a:t>While LLMs have transformed standard code generation, test generation is a strictly harder, more constrained problem.</a:t>
            </a:r>
          </a:p>
          <a:p>
            <a:endParaRPr lang="en-US" dirty="0"/>
          </a:p>
          <a:p>
            <a:r>
              <a:rPr lang="en-US" dirty="0"/>
              <a:t>But LLMs </a:t>
            </a:r>
            <a:r>
              <a:rPr lang="en-US" i="1" dirty="0"/>
              <a:t>can</a:t>
            </a:r>
            <a:r>
              <a:rPr lang="en-US" dirty="0"/>
              <a:t> do a lot: they can generate syntactically correct Python code, understand parameter types, and create diverse test scenarios.</a:t>
            </a:r>
          </a:p>
          <a:p>
            <a:endParaRPr lang="en-US" dirty="0"/>
          </a:p>
          <a:p>
            <a:r>
              <a:rPr lang="en-US" dirty="0"/>
              <a:t>They are great at writing assertions automatically and handling multiple edge cases in a single pass.</a:t>
            </a:r>
          </a:p>
          <a:p>
            <a:endParaRPr lang="en-US" dirty="0"/>
          </a:p>
          <a:p>
            <a:r>
              <a:rPr lang="en-US" dirty="0"/>
              <a:t>This matters because it drops the time to get a first-draft test from hours down to seconds.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70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here is the reality of where LLMs fall short.</a:t>
            </a:r>
          </a:p>
          <a:p>
            <a:endParaRPr lang="en-US" dirty="0"/>
          </a:p>
          <a:p>
            <a:r>
              <a:rPr lang="en-US" dirty="0"/>
              <a:t>Our early experiments showed a messy picture; it was promising in theory, but frustrating in practice</a:t>
            </a:r>
          </a:p>
          <a:p>
            <a:endParaRPr lang="en-US" dirty="0"/>
          </a:p>
          <a:p>
            <a:r>
              <a:rPr lang="en-US" dirty="0"/>
              <a:t>We ran into hallucinated dependencies, where the LLM would confidently import libraries or call methods that simply don't exist in the codebase.</a:t>
            </a:r>
          </a:p>
          <a:p>
            <a:endParaRPr lang="en-US" dirty="0"/>
          </a:p>
          <a:p>
            <a:r>
              <a:rPr lang="en-US" dirty="0"/>
              <a:t>There is also context insensitivity. Without seeing the full module, the model doesn't know what helper methods are available.</a:t>
            </a:r>
          </a:p>
          <a:p>
            <a:endParaRPr lang="en-US" dirty="0"/>
          </a:p>
          <a:p>
            <a:r>
              <a:rPr lang="en-US" dirty="0"/>
              <a:t>We also saw wrong assertions. The model often guesses what a function should return, creating tests that are syntactically valid but logically backwards.</a:t>
            </a:r>
          </a:p>
          <a:p>
            <a:endParaRPr lang="en-US" dirty="0"/>
          </a:p>
          <a:p>
            <a:r>
              <a:rPr lang="en-US" dirty="0"/>
              <a:t>Furthermore, there is a lack of developer alignment - the AI often misses the edge cases a human would actually care about.</a:t>
            </a:r>
          </a:p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752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systematically tackle these challenges, three focused questions shaped every design decision in our project.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main objective was to build a focal-method-aware pipeline that uses LLMs to generate meaningful, executable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pytest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 tests, and to rigorously evaluate that output.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RQ1, we want to know if giving the LLM the actual function code rather than just its name  leads to better, more compliable tests.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RQ2, asks how comprehensive these tests are. We approximated coverage using assertion counts and edge-case inclusion as our proxy metrics.</a:t>
            </a:r>
            <a:r>
              <a:rPr lang="en-US" dirty="0">
                <a:effectLst/>
              </a:rPr>
              <a:t> 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RQ3, we look at why tests fail whether it's a syntax problem, missing assertions, or extra non-code text mixed in so we can understand where LLMs still fall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99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37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57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AA389-1918-5947-8731-F38C00EBA1B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291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4858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78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235605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66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234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1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48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7934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7878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05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637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36389D57-9720-664B-9BED-FB767EA4454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3AD1A44-76E7-434D-A5F2-5D998E502AC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5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Pipette filling tray with sample">
            <a:extLst>
              <a:ext uri="{FF2B5EF4-FFF2-40B4-BE49-F238E27FC236}">
                <a16:creationId xmlns:a16="http://schemas.microsoft.com/office/drawing/2014/main" id="{F9E79C68-369B-8834-38E5-A8FFD3E23A3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3448" r="-1" b="226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17709D-9AF0-EB9A-1E0D-0F6F2C626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1965" y="552807"/>
            <a:ext cx="9801854" cy="27903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</a:rPr>
              <a:t>LLM-Based Automatic Unit Test Generation 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FA848-1A9F-BB70-515D-566B425E3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1966" y="3510476"/>
            <a:ext cx="9801854" cy="26142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spcAft>
                <a:spcPts val="600"/>
              </a:spcAft>
            </a:pPr>
            <a:r>
              <a:rPr lang="en-US" sz="1800" dirty="0">
                <a:solidFill>
                  <a:schemeClr val="tx1"/>
                </a:solidFill>
                <a:sym typeface="Times New Roman"/>
              </a:rPr>
              <a:t>CEN 5035 (Instructor: Dr. Karim Elish)</a:t>
            </a:r>
          </a:p>
          <a:p>
            <a:pPr lvl="0">
              <a:spcAft>
                <a:spcPts val="600"/>
              </a:spcAft>
            </a:pPr>
            <a:r>
              <a:rPr lang="en-US" sz="1800" dirty="0">
                <a:solidFill>
                  <a:schemeClr val="tx1"/>
                </a:solidFill>
                <a:sym typeface="Times New Roman"/>
              </a:rPr>
              <a:t>Florida Polytechnic University</a:t>
            </a:r>
          </a:p>
          <a:p>
            <a:pPr lvl="0">
              <a:spcAft>
                <a:spcPts val="600"/>
              </a:spcAft>
            </a:pPr>
            <a:r>
              <a:rPr lang="en-US" sz="1800" b="1" dirty="0">
                <a:solidFill>
                  <a:schemeClr val="tx1"/>
                </a:solidFill>
                <a:sym typeface="Times New Roman"/>
              </a:rPr>
              <a:t>Team:</a:t>
            </a:r>
            <a:r>
              <a:rPr lang="en-US" sz="1800" dirty="0">
                <a:solidFill>
                  <a:schemeClr val="tx1"/>
                </a:solidFill>
                <a:sym typeface="Times New Roman"/>
              </a:rPr>
              <a:t> Siwani Sah, </a:t>
            </a:r>
            <a:r>
              <a:rPr lang="en-US" sz="1800" dirty="0" err="1">
                <a:solidFill>
                  <a:schemeClr val="tx1"/>
                </a:solidFill>
                <a:sym typeface="Times New Roman"/>
              </a:rPr>
              <a:t>Saarupya</a:t>
            </a:r>
            <a:r>
              <a:rPr lang="en-US" sz="1800" dirty="0">
                <a:solidFill>
                  <a:schemeClr val="tx1"/>
                </a:solidFill>
                <a:sym typeface="Times New Roman"/>
              </a:rPr>
              <a:t> Sunkara, Alexandra Hyatali</a:t>
            </a:r>
          </a:p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75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5B3E7-9B49-0F1C-6FFF-AE9F407FA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207" y="546372"/>
            <a:ext cx="8594872" cy="521475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Focal-Method Approach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C3574-F01F-CB5B-17CD-8A128B317788}"/>
              </a:ext>
            </a:extLst>
          </p:cNvPr>
          <p:cNvSpPr txBox="1"/>
          <p:nvPr/>
        </p:nvSpPr>
        <p:spPr>
          <a:xfrm>
            <a:off x="4796858" y="2616229"/>
            <a:ext cx="259828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Llama3 via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DAC0D-7A3A-5600-0438-CFDFFADFCCA2}"/>
              </a:ext>
            </a:extLst>
          </p:cNvPr>
          <p:cNvSpPr txBox="1"/>
          <p:nvPr/>
        </p:nvSpPr>
        <p:spPr>
          <a:xfrm>
            <a:off x="7856040" y="2613392"/>
            <a:ext cx="248657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Focal-method prompting
with 3 context strategies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A20A7-8BAE-7999-D655-895EBEF266DC}"/>
              </a:ext>
            </a:extLst>
          </p:cNvPr>
          <p:cNvSpPr txBox="1"/>
          <p:nvPr/>
        </p:nvSpPr>
        <p:spPr>
          <a:xfrm>
            <a:off x="1183957" y="2613392"/>
            <a:ext cx="300755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pyMethods2Test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88,000+ real method-test pairs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3C612-C34E-3AE7-9C2D-119B2E96844A}"/>
              </a:ext>
            </a:extLst>
          </p:cNvPr>
          <p:cNvSpPr txBox="1"/>
          <p:nvPr/>
        </p:nvSpPr>
        <p:spPr>
          <a:xfrm>
            <a:off x="1183957" y="1588522"/>
            <a:ext cx="7915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large language models write meaningful tests or just code that looks like tests?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346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8C89EA62-F38E-4285-A105-C5E1BD360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2CF6E46A-CCCD-4728-B011-E147B2362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2E2C684B-30C9-4689-A529-EBF1B8ADB2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ECB0E0D-AC1B-4E83-84EA-237BFA206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6DCB3B1-E1A7-4510-831B-77C8EFF56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10132A3B-10CF-4EEB-BA1F-A63D2ED61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014E52ED-3C51-46E6-BE4B-14FFAB2C3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AAF350-1471-B32E-7072-8B018C519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521" y="1480930"/>
            <a:ext cx="5751537" cy="38485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1" cap="all"/>
              <a:t>PROBLEM &amp; MOTIVATION</a:t>
            </a:r>
            <a:endParaRPr lang="en-US" sz="6600" cap="all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16DDC6-8F07-46CC-8751-E5C9346B2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4964" y="2388358"/>
            <a:ext cx="0" cy="1856096"/>
          </a:xfrm>
          <a:prstGeom prst="line">
            <a:avLst/>
          </a:prstGeom>
          <a:ln w="25400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96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19223-1160-77CB-ACCE-A0ED12090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3083"/>
            <a:ext cx="10515600" cy="785249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Unit Testing Matters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D9B91-996D-0EA8-9294-B95E2017C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78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is one of the most critical  and most overlooked  parts of software development.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26858-EA3B-BE64-2C42-9D5B370886AE}"/>
              </a:ext>
            </a:extLst>
          </p:cNvPr>
          <p:cNvSpPr txBox="1"/>
          <p:nvPr/>
        </p:nvSpPr>
        <p:spPr>
          <a:xfrm>
            <a:off x="981420" y="2437969"/>
            <a:ext cx="47804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Catch bugs early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tests find regressions and logic errors before they reach production, where fixing them is 10× more expensive.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9739B7-97A8-5438-0556-631727A44AAE}"/>
              </a:ext>
            </a:extLst>
          </p:cNvPr>
          <p:cNvSpPr txBox="1"/>
          <p:nvPr/>
        </p:nvSpPr>
        <p:spPr>
          <a:xfrm>
            <a:off x="6027115" y="2437968"/>
            <a:ext cx="51834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safe refactoring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tests, changing code becomes a guessing game. With them, developers can refactor confidently and move fast.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FE526-9F94-EEBF-3438-E8907C5E1ED7}"/>
              </a:ext>
            </a:extLst>
          </p:cNvPr>
          <p:cNvSpPr txBox="1"/>
          <p:nvPr/>
        </p:nvSpPr>
        <p:spPr>
          <a:xfrm>
            <a:off x="981420" y="3944360"/>
            <a:ext cx="46385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intended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Well-written tests serve as living documentation  they show exactly what a function is supposed to do and under what conditions.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8FCC1-BBF4-C30E-D03E-CCFA6CD19734}"/>
              </a:ext>
            </a:extLst>
          </p:cNvPr>
          <p:cNvSpPr txBox="1"/>
          <p:nvPr/>
        </p:nvSpPr>
        <p:spPr>
          <a:xfrm>
            <a:off x="6096000" y="4027197"/>
            <a:ext cx="47335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long-term maintenance cost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with high test coverage have significantly lower defect rates and are much easier to onboard new developers onto.</a:t>
            </a:r>
          </a:p>
        </p:txBody>
      </p:sp>
    </p:spTree>
    <p:extLst>
      <p:ext uri="{BB962C8B-B14F-4D97-AF65-F5344CB8AC3E}">
        <p14:creationId xmlns:p14="http://schemas.microsoft.com/office/powerpoint/2010/main" val="298021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4D37-6DD3-93EC-3377-550E94A5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4000"/>
            <a:ext cx="10515600" cy="61537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Manual Testing Bottleneck</a:t>
            </a:r>
            <a:endParaRPr lang="en-US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8DEEA-3435-0B11-D208-9147C3597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65" y="1184743"/>
            <a:ext cx="10515600" cy="3667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its importance, writing unit tests remains one of the most painful parts of a developer's day.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168F40-B4E3-07E6-AE21-A7267F373D33}"/>
              </a:ext>
            </a:extLst>
          </p:cNvPr>
          <p:cNvSpPr txBox="1"/>
          <p:nvPr/>
        </p:nvSpPr>
        <p:spPr>
          <a:xfrm>
            <a:off x="1234808" y="1747359"/>
            <a:ext cx="22575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~20%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development time
spent on testing tasks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C9D34-DA84-568D-7E3A-94E7732AB3BC}"/>
              </a:ext>
            </a:extLst>
          </p:cNvPr>
          <p:cNvSpPr txBox="1"/>
          <p:nvPr/>
        </p:nvSpPr>
        <p:spPr>
          <a:xfrm>
            <a:off x="4191360" y="1755608"/>
            <a:ext cx="269817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30–50%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tests written are
boilerplate with little variation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CABA5-309B-B4EA-9B38-D1BC2125A61D}"/>
              </a:ext>
            </a:extLst>
          </p:cNvPr>
          <p:cNvSpPr txBox="1"/>
          <p:nvPr/>
        </p:nvSpPr>
        <p:spPr>
          <a:xfrm>
            <a:off x="8030201" y="1755608"/>
            <a:ext cx="23407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 tests are skipped:
tight deadlines &amp; pressure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53568-A406-2B81-1312-11A8106F991F}"/>
              </a:ext>
            </a:extLst>
          </p:cNvPr>
          <p:cNvSpPr txBox="1"/>
          <p:nvPr/>
        </p:nvSpPr>
        <p:spPr>
          <a:xfrm>
            <a:off x="1058537" y="2981423"/>
            <a:ext cx="1000331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meaningful tests for even a single function requires understanding its inputs, outputs, edge cases, and error conditions then expressing all of that as structured code. For a large codebase this takes days.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33E8F-5543-86E9-CB47-B4FF4E46A195}"/>
              </a:ext>
            </a:extLst>
          </p:cNvPr>
          <p:cNvSpPr txBox="1"/>
          <p:nvPr/>
        </p:nvSpPr>
        <p:spPr>
          <a:xfrm>
            <a:off x="1058537" y="4052986"/>
            <a:ext cx="98821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Repetitive and tedious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test scaffolding follows predictable patterns: set up data, call the function, assert the result. Developers are not paid to write the same boilerplate a hundred times yet here we are.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3E6286-8975-4C6C-5E47-9D55C9AAAB71}"/>
              </a:ext>
            </a:extLst>
          </p:cNvPr>
          <p:cNvSpPr txBox="1"/>
          <p:nvPr/>
        </p:nvSpPr>
        <p:spPr>
          <a:xfrm>
            <a:off x="1042012" y="5124549"/>
            <a:ext cx="1031178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 skipped under pressure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sprint deadlines loom, test coverage is the first casualty. Teams promise to add tests later. They rarely do. Technical debt compounds silently until something breaks in production.</a:t>
            </a:r>
          </a:p>
        </p:txBody>
      </p:sp>
    </p:spTree>
    <p:extLst>
      <p:ext uri="{BB962C8B-B14F-4D97-AF65-F5344CB8AC3E}">
        <p14:creationId xmlns:p14="http://schemas.microsoft.com/office/powerpoint/2010/main" val="1293199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2E6F6-8CF7-FFAD-3EA7-445B2E229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046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LLMs Help? The Promise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68642-4F53-2A55-0194-1DF9C5A1E9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572" y="1127947"/>
            <a:ext cx="10515600" cy="388765"/>
          </a:xfrm>
        </p:spPr>
        <p:txBody>
          <a:bodyPr/>
          <a:lstStyle/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have transformed code generation, test generation is a harder, more constrained problem.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9CAE5-1B0C-A6CB-13F0-15BA472B3305}"/>
              </a:ext>
            </a:extLst>
          </p:cNvPr>
          <p:cNvSpPr txBox="1"/>
          <p:nvPr/>
        </p:nvSpPr>
        <p:spPr>
          <a:xfrm>
            <a:off x="1304582" y="2174108"/>
            <a:ext cx="479141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LLMs CAN Do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Generate syntactically correct Python code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Understand function signatures and parameter types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Create diverse test scenarios from examples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Write assertions for common patterns automatically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Handle multiple edge cases in a single pass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✓  Reduce the time to first-draft from hours to seconds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4A2CF-485F-A3C7-19C4-35C107F32A8F}"/>
              </a:ext>
            </a:extLst>
          </p:cNvPr>
          <p:cNvSpPr txBox="1"/>
          <p:nvPr/>
        </p:nvSpPr>
        <p:spPr>
          <a:xfrm>
            <a:off x="6644092" y="2174108"/>
            <a:ext cx="479141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Matters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generated in seconds vs. hours of manual effor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across thousands of functions without human fatigue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naturally explore combinations developers might miss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junior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produce high-quality test stubs</a:t>
            </a:r>
          </a:p>
        </p:txBody>
      </p:sp>
    </p:spTree>
    <p:extLst>
      <p:ext uri="{BB962C8B-B14F-4D97-AF65-F5344CB8AC3E}">
        <p14:creationId xmlns:p14="http://schemas.microsoft.com/office/powerpoint/2010/main" val="831647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9371E-F51B-7D11-723B-23942BE64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6331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Reality: Where LLMs Fall Short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4A2F5-3947-E8CE-3041-E78BD9F99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419" y="1252258"/>
            <a:ext cx="10515600" cy="399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experiments showed a messy picture  promising in theory, frustrating in practice.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29D00-59FF-FE74-7124-921388B84CA5}"/>
              </a:ext>
            </a:extLst>
          </p:cNvPr>
          <p:cNvSpPr txBox="1"/>
          <p:nvPr/>
        </p:nvSpPr>
        <p:spPr>
          <a:xfrm>
            <a:off x="981419" y="1925009"/>
            <a:ext cx="99041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dependencies: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 confidently imports libraries and calls methods that don't exist in the actual codebase. Tests look plausible but fail immediately at import time.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5DF8B-C190-5898-EE5A-665C137DB039}"/>
              </a:ext>
            </a:extLst>
          </p:cNvPr>
          <p:cNvSpPr txBox="1"/>
          <p:nvPr/>
        </p:nvSpPr>
        <p:spPr>
          <a:xfrm>
            <a:off x="981419" y="2733137"/>
            <a:ext cx="998036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insensitivity: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seeing the full class or module, the LLM doesn't know what helper methods are available, what the class state looks like, or what external dependencies are injected.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FCB740-17F8-2D5A-09E7-093B74B22CEB}"/>
              </a:ext>
            </a:extLst>
          </p:cNvPr>
          <p:cNvSpPr txBox="1"/>
          <p:nvPr/>
        </p:nvSpPr>
        <p:spPr>
          <a:xfrm>
            <a:off x="951123" y="3621659"/>
            <a:ext cx="103723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Wrong assertions: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LLM guesses what a function should return rather than knowing. Assertions may be syntactically valid but logically backwards checking the wrong value or the wrong condition entirely.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E7263-ACC2-45D0-E351-7B3593CBBE0F}"/>
              </a:ext>
            </a:extLst>
          </p:cNvPr>
          <p:cNvSpPr txBox="1"/>
          <p:nvPr/>
        </p:nvSpPr>
        <p:spPr>
          <a:xfrm>
            <a:off x="981418" y="4584335"/>
            <a:ext cx="1037238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developer alignment: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tests don't reflect the original developer's intent. They miss the edge cases the human cared about and test things nobody was worried about.</a:t>
            </a:r>
          </a:p>
        </p:txBody>
      </p:sp>
    </p:spTree>
    <p:extLst>
      <p:ext uri="{BB962C8B-B14F-4D97-AF65-F5344CB8AC3E}">
        <p14:creationId xmlns:p14="http://schemas.microsoft.com/office/powerpoint/2010/main" val="2667383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3290-B6E6-3207-025B-6735EC68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997" y="376142"/>
            <a:ext cx="10515600" cy="64842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E293B"/>
                </a:solidFill>
              </a:rPr>
              <a:t>Research Questions &amp; 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C4ECB-1411-A7FF-F299-E863A4DD4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855" y="1151110"/>
            <a:ext cx="10515600" cy="376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focused questions shaped every design decision in the project.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7617ED-7978-31D8-9945-9D1950A41BF6}"/>
              </a:ext>
            </a:extLst>
          </p:cNvPr>
          <p:cNvSpPr txBox="1"/>
          <p:nvPr/>
        </p:nvSpPr>
        <p:spPr>
          <a:xfrm>
            <a:off x="949855" y="1566952"/>
            <a:ext cx="10828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Objective:  Build a focal-method-aware pipeline that uses LLMs to generate meaningful, executable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unit tests for individual Python functions  and rigorously evaluate the output.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56-B3C9-57A6-6434-8DC461BC0CD9}"/>
              </a:ext>
            </a:extLst>
          </p:cNvPr>
          <p:cNvSpPr txBox="1"/>
          <p:nvPr/>
        </p:nvSpPr>
        <p:spPr>
          <a:xfrm>
            <a:off x="949856" y="2377132"/>
            <a:ext cx="1034094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Focal-Method Context on Test Quality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the inclusion of focal-method context (e.g., class signatures, imports) in the LLM prompt affect 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compilability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correctness of generated tests compared to context-agnostic baselines?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test two levels: context-agnostic baseline (method name only) and Focal Method (function body).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CE425-3AE8-14B3-5097-2E1629D93F6B}"/>
              </a:ext>
            </a:extLst>
          </p:cNvPr>
          <p:cNvSpPr txBox="1"/>
          <p:nvPr/>
        </p:nvSpPr>
        <p:spPr>
          <a:xfrm>
            <a:off x="949856" y="3713647"/>
            <a:ext cx="101015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 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Comprehensive Are LLM-Generated Tests in Terms of Assertions and Edge Cases?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approximate coverage using assertion count and edge-case inclusion as proxy metrics, due to full runtime coverage being out of scope.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Assertion count per test and edge-case keyword presence were used as measurable indicators of test quality.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A7077A-D939-CB0E-6543-ACD797C66FC1}"/>
              </a:ext>
            </a:extLst>
          </p:cNvPr>
          <p:cNvSpPr txBox="1"/>
          <p:nvPr/>
        </p:nvSpPr>
        <p:spPr>
          <a:xfrm>
            <a:off x="949856" y="4948184"/>
            <a:ext cx="1082866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RQ 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the Common Failure Modes in LLM-Generated Test Cases?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analyze failures such as missing assertions, extra non-code text, and syntax errors to understand LLM limitations in automated test generation.</a:t>
            </a:r>
          </a:p>
        </p:txBody>
      </p:sp>
    </p:spTree>
    <p:extLst>
      <p:ext uri="{BB962C8B-B14F-4D97-AF65-F5344CB8AC3E}">
        <p14:creationId xmlns:p14="http://schemas.microsoft.com/office/powerpoint/2010/main" val="1799322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>
            <a:extLst>
              <a:ext uri="{FF2B5EF4-FFF2-40B4-BE49-F238E27FC236}">
                <a16:creationId xmlns:a16="http://schemas.microsoft.com/office/drawing/2014/main" id="{449BC34D-9C23-4D6D-8213-1F471AF8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FA0F5D6C-5025-4D7E-82DD-C2C6FDA1E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E2AF2C17-4AB4-4402-B84B-129EF95D1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3027A-F1FC-6481-0D95-2AE1E3D3B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4186" y="634028"/>
            <a:ext cx="3355942" cy="373283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100" cap="all"/>
              <a:t>Approach</a:t>
            </a:r>
          </a:p>
        </p:txBody>
      </p:sp>
      <p:sp>
        <p:nvSpPr>
          <p:cNvPr id="67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9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56" name="Graphic 55" descr="Head with Gears">
            <a:extLst>
              <a:ext uri="{FF2B5EF4-FFF2-40B4-BE49-F238E27FC236}">
                <a16:creationId xmlns:a16="http://schemas.microsoft.com/office/drawing/2014/main" id="{1430F3AA-B259-D30C-4089-3CE07D6F62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20879" y="1340841"/>
            <a:ext cx="4375510" cy="43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30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D18E-F8D2-8B2E-4A7B-CF748B33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47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E293B"/>
                </a:solidFill>
              </a:rPr>
              <a:t>Dataset: pyMethods2Test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8BA40-00FA-9AC7-734A-B489E3316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4148"/>
            <a:ext cx="10515600" cy="487917"/>
          </a:xfrm>
        </p:spPr>
        <p:txBody>
          <a:bodyPr/>
          <a:lstStyle/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chose a real-world benchmark to make our evaluation meaningful.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BE7513-C7F6-E4C6-F042-05EB07FD1379}"/>
              </a:ext>
            </a:extLst>
          </p:cNvPr>
          <p:cNvSpPr txBox="1"/>
          <p:nvPr/>
        </p:nvSpPr>
        <p:spPr>
          <a:xfrm>
            <a:off x="1163434" y="2233685"/>
            <a:ext cx="387127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88,000+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method-test pairs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Sourced from open-source GitHub repos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Covers diverse domains &amp; coding patterns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pair is human-verified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as reference for evaluation (assertion similarity proxy)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0B44C2-2FB4-003E-24F2-EA1558181977}"/>
              </a:ext>
            </a:extLst>
          </p:cNvPr>
          <p:cNvSpPr txBox="1"/>
          <p:nvPr/>
        </p:nvSpPr>
        <p:spPr>
          <a:xfrm>
            <a:off x="5034708" y="1879743"/>
            <a:ext cx="651581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dataset entry provides: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Method: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Python function we want to generate tests for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Context: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enclosing class with its fields and helper methods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Path &amp; Range: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location in the source repo (file, line start, line end)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Test: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actual test a developer wrote for this function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DA9908-64D6-5A9C-B778-23EA66B6D2A0}"/>
              </a:ext>
            </a:extLst>
          </p:cNvPr>
          <p:cNvSpPr txBox="1"/>
          <p:nvPr/>
        </p:nvSpPr>
        <p:spPr>
          <a:xfrm>
            <a:off x="5034708" y="4054927"/>
            <a:ext cx="651581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Dataset?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Gives us both input (focal method) and a human-written reference (ground truth test)  essential for meaningful comparison.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diversity of real open-source projects means our pipeline is tested against messy, real-world code (not sanitized examples)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88,000 pairs means our evaluation has statistical weight. 100 was used for this study; the pipeline scales to the full set.</a:t>
            </a:r>
          </a:p>
        </p:txBody>
      </p:sp>
    </p:spTree>
    <p:extLst>
      <p:ext uri="{BB962C8B-B14F-4D97-AF65-F5344CB8AC3E}">
        <p14:creationId xmlns:p14="http://schemas.microsoft.com/office/powerpoint/2010/main" val="1588324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4DD21-1EFF-387D-8AF3-98EEF0E96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8595"/>
          </a:xfrm>
        </p:spPr>
        <p:txBody>
          <a:bodyPr/>
          <a:lstStyle/>
          <a:p>
            <a:r>
              <a:rPr lang="en-US" b="1" dirty="0">
                <a:solidFill>
                  <a:srgbClr val="1E293B"/>
                </a:solidFill>
              </a:rPr>
              <a:t>System Architecture: End-to-End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57407-1738-E115-5221-E8AE70B83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452" y="1174883"/>
            <a:ext cx="10515600" cy="377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modular 5-stage pipeline each stage independently testable and swappable.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C4D837-8A53-ACA3-2B55-846C57F8AD05}"/>
              </a:ext>
            </a:extLst>
          </p:cNvPr>
          <p:cNvSpPr txBox="1"/>
          <p:nvPr/>
        </p:nvSpPr>
        <p:spPr>
          <a:xfrm>
            <a:off x="947452" y="5406998"/>
            <a:ext cx="109287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principle: every stage is independently modular. Change the prompt strategy or swap the evaluator and the rest of the pipeline is unaffected. This made it easy to compare 3 prompt strategies systematically without rewriting code.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E570FC-2D03-BE6B-AF9E-5ED0259AF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746" y="1739284"/>
            <a:ext cx="9996054" cy="3162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867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A611A-A13A-4C8E-9C88-0EC26BAD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9612"/>
          </a:xfrm>
        </p:spPr>
        <p:txBody>
          <a:bodyPr/>
          <a:lstStyle/>
          <a:p>
            <a:r>
              <a:rPr lang="en-US" b="1" dirty="0">
                <a:solidFill>
                  <a:srgbClr val="1E293B"/>
                </a:solidFill>
              </a:rPr>
              <a:t>Technical Implementation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EB150-C722-5CAA-FAAD-9D6D8AD0AE75}"/>
              </a:ext>
            </a:extLst>
          </p:cNvPr>
          <p:cNvSpPr txBox="1"/>
          <p:nvPr/>
        </p:nvSpPr>
        <p:spPr>
          <a:xfrm>
            <a:off x="962924" y="2048496"/>
            <a:ext cx="101476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- Llama3 via Ollama</a:t>
            </a:r>
          </a:p>
          <a:p>
            <a:r>
              <a:rPr lang="en-US"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Locally hosted, zero API cost. All test generation runs entirely offline.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compile() for syntax check</a:t>
            </a:r>
          </a:p>
          <a:p>
            <a:r>
              <a:rPr lang="en-US"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generated code without executing it  safe and fast.</a:t>
            </a:r>
          </a:p>
          <a:p>
            <a:endPara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mode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sz="16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/>
              <a:t>Categorizes outputs into syntax errors, missing assertions, and extra text issues.</a:t>
            </a:r>
            <a:r>
              <a:rPr lang="en-US" sz="16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Post-processing cleaner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markdown artifacts and non-code text before evaluation.</a:t>
            </a:r>
          </a:p>
          <a:p>
            <a:endPara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/>
              <a:t>Assertion-based evaluation </a:t>
            </a:r>
            <a:br>
              <a:rPr lang="en-US" sz="1600" dirty="0"/>
            </a:br>
            <a:r>
              <a:rPr lang="en-US" sz="1600" dirty="0"/>
              <a:t>Measures test quality using assertion count and edge-case coverage.</a:t>
            </a:r>
            <a:endParaRPr lang="en-US" sz="16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5A7E48-BBF1-683B-AC2F-083D77517674}"/>
              </a:ext>
            </a:extLst>
          </p:cNvPr>
          <p:cNvSpPr txBox="1"/>
          <p:nvPr/>
        </p:nvSpPr>
        <p:spPr>
          <a:xfrm>
            <a:off x="962924" y="1322493"/>
            <a:ext cx="5467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key decisions that shaped how the system works.</a:t>
            </a:r>
          </a:p>
        </p:txBody>
      </p:sp>
    </p:spTree>
    <p:extLst>
      <p:ext uri="{BB962C8B-B14F-4D97-AF65-F5344CB8AC3E}">
        <p14:creationId xmlns:p14="http://schemas.microsoft.com/office/powerpoint/2010/main" val="15529120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512CF-17B1-3DE6-161E-67982E4EE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33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E293B"/>
                </a:solidFill>
              </a:rPr>
              <a:t>Three Prompting Strategies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F3F67-1EFC-5D7B-2F4E-4634D917E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8553" y="2038446"/>
            <a:ext cx="9521658" cy="40249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64343E-E1FC-193E-48A0-E5DF8EAE4D04}"/>
              </a:ext>
            </a:extLst>
          </p:cNvPr>
          <p:cNvSpPr txBox="1"/>
          <p:nvPr/>
        </p:nvSpPr>
        <p:spPr>
          <a:xfrm>
            <a:off x="838200" y="1340285"/>
            <a:ext cx="10029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is the controlled variable. Everything else  model, temperature, output format — stays identical.</a:t>
            </a:r>
          </a:p>
        </p:txBody>
      </p:sp>
    </p:spTree>
    <p:extLst>
      <p:ext uri="{BB962C8B-B14F-4D97-AF65-F5344CB8AC3E}">
        <p14:creationId xmlns:p14="http://schemas.microsoft.com/office/powerpoint/2010/main" val="3121900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en placed on top of a signature line">
            <a:extLst>
              <a:ext uri="{FF2B5EF4-FFF2-40B4-BE49-F238E27FC236}">
                <a16:creationId xmlns:a16="http://schemas.microsoft.com/office/drawing/2014/main" id="{9B927ECB-7113-D258-1896-E096D7C1707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b="15714"/>
          <a:stretch>
            <a:fillRect/>
          </a:stretch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8AEE8D-0AB8-4564-7E75-5ED8EC882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128" y="1788454"/>
            <a:ext cx="8361229" cy="20982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b="1" cap="all"/>
              <a:t>EVALUATION &amp; RESULTS</a:t>
            </a:r>
            <a:endParaRPr lang="en-US" sz="7200" cap="all"/>
          </a:p>
        </p:txBody>
      </p:sp>
    </p:spTree>
    <p:extLst>
      <p:ext uri="{BB962C8B-B14F-4D97-AF65-F5344CB8AC3E}">
        <p14:creationId xmlns:p14="http://schemas.microsoft.com/office/powerpoint/2010/main" val="2950242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AEF91-2F67-C20B-16B4-62DC5FB59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4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Methodology &amp; Metrics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D6C02-3FAB-E422-FC24-48AD00E48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304" y="1065810"/>
            <a:ext cx="10515600" cy="3226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defined four concrete, measurable criteria  and applied them consistently across all outputs.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88E740-6EE7-F5B0-204F-F08640E476B4}"/>
              </a:ext>
            </a:extLst>
          </p:cNvPr>
          <p:cNvSpPr txBox="1"/>
          <p:nvPr/>
        </p:nvSpPr>
        <p:spPr>
          <a:xfrm>
            <a:off x="960304" y="1738677"/>
            <a:ext cx="47859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Compilability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Rate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generated code parse as valid Python?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using compile() - no execution needed</a:t>
            </a:r>
            <a:r>
              <a:rPr lang="en-US"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B1C77-24D2-A17A-D99A-332C223528E3}"/>
              </a:ext>
            </a:extLst>
          </p:cNvPr>
          <p:cNvSpPr txBox="1"/>
          <p:nvPr/>
        </p:nvSpPr>
        <p:spPr>
          <a:xfrm>
            <a:off x="6236465" y="1723289"/>
            <a:ext cx="523943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Assertion Count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assert statements per test?</a:t>
            </a:r>
          </a:p>
          <a:p>
            <a:r>
              <a:rPr lang="en-US"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count indicates broader </a:t>
            </a:r>
            <a:r>
              <a:rPr lang="en-US" sz="1400" b="0" i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lang="en-US"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coverage.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46356E-0A9F-7F1E-9088-CF06A1F0B1D7}"/>
              </a:ext>
            </a:extLst>
          </p:cNvPr>
          <p:cNvSpPr txBox="1"/>
          <p:nvPr/>
        </p:nvSpPr>
        <p:spPr>
          <a:xfrm>
            <a:off x="960304" y="3871362"/>
            <a:ext cx="51118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 Coverage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diverse edge cases (zero, negative, empty, large inputs) present?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Counts how many generated tests include important edge cases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B0A1A3-8919-B1D6-CCC1-37F2B5A917DC}"/>
              </a:ext>
            </a:extLst>
          </p:cNvPr>
          <p:cNvSpPr txBox="1"/>
          <p:nvPr/>
        </p:nvSpPr>
        <p:spPr>
          <a:xfrm>
            <a:off x="6218105" y="3871362"/>
            <a:ext cx="52577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Mode Analysis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output classified into one of four categories.</a:t>
            </a:r>
          </a:p>
          <a:p>
            <a:r>
              <a:rPr lang="en-US" sz="1400" b="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syntax_error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missing_assertions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extra_text</a:t>
            </a:r>
            <a:endParaRPr lang="en-US" sz="1400" b="0" i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200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E38D4-AE27-0FAA-A6FA-392BAAE80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065" y="378857"/>
            <a:ext cx="10515600" cy="60435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 The Numbers at a Glance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BCF2E-9747-C257-5A23-32C0B7ABB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263" y="1136221"/>
            <a:ext cx="10515600" cy="3336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i="1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 tests generated and evaluated - here is what we found.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7314B-9CDF-9016-AABA-1742354B1BA6}"/>
              </a:ext>
            </a:extLst>
          </p:cNvPr>
          <p:cNvSpPr txBox="1"/>
          <p:nvPr/>
        </p:nvSpPr>
        <p:spPr>
          <a:xfrm>
            <a:off x="1079383" y="1746320"/>
            <a:ext cx="11079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tests
generated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121BA-A7FB-63D1-25B1-4A1E7F7D287A}"/>
              </a:ext>
            </a:extLst>
          </p:cNvPr>
          <p:cNvSpPr txBox="1"/>
          <p:nvPr/>
        </p:nvSpPr>
        <p:spPr>
          <a:xfrm>
            <a:off x="2514672" y="1767168"/>
            <a:ext cx="156324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784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assertions
produced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2D4BF-F60D-DDAD-79D0-E9C85E0C3376}"/>
              </a:ext>
            </a:extLst>
          </p:cNvPr>
          <p:cNvSpPr txBox="1"/>
          <p:nvPr/>
        </p:nvSpPr>
        <p:spPr>
          <a:xfrm>
            <a:off x="4418038" y="1816597"/>
            <a:ext cx="1871025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7.84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assertions
per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066DC-81E3-CC24-44DD-F2758D9D10CB}"/>
              </a:ext>
            </a:extLst>
          </p:cNvPr>
          <p:cNvSpPr txBox="1"/>
          <p:nvPr/>
        </p:nvSpPr>
        <p:spPr>
          <a:xfrm>
            <a:off x="6742553" y="1892188"/>
            <a:ext cx="14221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case
coverage rate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C3461-FC00-C1BA-AD99-12A196DF765F}"/>
              </a:ext>
            </a:extLst>
          </p:cNvPr>
          <p:cNvSpPr txBox="1"/>
          <p:nvPr/>
        </p:nvSpPr>
        <p:spPr>
          <a:xfrm>
            <a:off x="8835758" y="1892187"/>
            <a:ext cx="15824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~80%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compilability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
(post-cleaning)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BE659C-4AD4-E7CD-E125-3C4240B5E174}"/>
              </a:ext>
            </a:extLst>
          </p:cNvPr>
          <p:cNvSpPr txBox="1"/>
          <p:nvPr/>
        </p:nvSpPr>
        <p:spPr>
          <a:xfrm>
            <a:off x="951122" y="3363621"/>
            <a:ext cx="1031454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7.84 assertions/test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explores multiple inputs, edge cases, and error paths not just a single happy-path check.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CD9467-3518-9409-DF3A-78CF9FC7CCEC}"/>
              </a:ext>
            </a:extLst>
          </p:cNvPr>
          <p:cNvSpPr txBox="1"/>
          <p:nvPr/>
        </p:nvSpPr>
        <p:spPr>
          <a:xfrm>
            <a:off x="899651" y="4290941"/>
            <a:ext cx="1036601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edge case coverage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test had at least one edge case. However, 'present' does not mean 'correct'  assertion logic was not verified at runtime.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02E690-8550-449B-026B-320D34F4CC49}"/>
              </a:ext>
            </a:extLst>
          </p:cNvPr>
          <p:cNvSpPr txBox="1"/>
          <p:nvPr/>
        </p:nvSpPr>
        <p:spPr>
          <a:xfrm>
            <a:off x="951122" y="5327054"/>
            <a:ext cx="10515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20% failure rate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extra_text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(markdown mixed in)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import_error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(hallucinated dependencies). True unrecoverable failures were under 2%.</a:t>
            </a:r>
          </a:p>
        </p:txBody>
      </p:sp>
    </p:spTree>
    <p:extLst>
      <p:ext uri="{BB962C8B-B14F-4D97-AF65-F5344CB8AC3E}">
        <p14:creationId xmlns:p14="http://schemas.microsoft.com/office/powerpoint/2010/main" val="2126597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B516-7131-ADD6-CC07-EF4BC278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2076"/>
            <a:ext cx="10515600" cy="51622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E293B"/>
                </a:solidFill>
              </a:rPr>
              <a:t>Results: Does More Context Help?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083D3-C56E-652A-8895-2500ED73BD50}"/>
              </a:ext>
            </a:extLst>
          </p:cNvPr>
          <p:cNvSpPr txBox="1"/>
          <p:nvPr/>
        </p:nvSpPr>
        <p:spPr>
          <a:xfrm>
            <a:off x="838200" y="1013797"/>
            <a:ext cx="5755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4B5563"/>
                </a:solidFill>
              </a:rPr>
              <a:t>Comparing the three prompting strategies output answer.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D49388-00ED-D59A-62D9-9E50DBC742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739409"/>
              </p:ext>
            </p:extLst>
          </p:nvPr>
        </p:nvGraphicFramePr>
        <p:xfrm>
          <a:off x="1499191" y="1882138"/>
          <a:ext cx="9601200" cy="3604260"/>
        </p:xfrm>
        <a:graphic>
          <a:graphicData uri="http://schemas.openxmlformats.org/drawingml/2006/table">
            <a:tbl>
              <a:tblPr/>
              <a:tblGrid>
                <a:gridCol w="2400300">
                  <a:extLst>
                    <a:ext uri="{9D8B030D-6E8A-4147-A177-3AD203B41FA5}">
                      <a16:colId xmlns:a16="http://schemas.microsoft.com/office/drawing/2014/main" val="257550263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938050211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86197627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3822431108"/>
                    </a:ext>
                  </a:extLst>
                </a:gridCol>
              </a:tblGrid>
              <a:tr h="6007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Metric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Minimal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Focal Method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>
                          <a:effectLst/>
                        </a:rPr>
                        <a:t>With Class Context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55149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Tests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242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Avg assertions/test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3.72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5.72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7.84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853225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Total assertions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372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572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784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010444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Edge case coverage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90%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94%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100%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67722"/>
                  </a:ext>
                </a:extLst>
              </a:tr>
              <a:tr h="60071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Valid 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~25%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~35%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</a:rPr>
                        <a:t>~30%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94863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610A51E-CD4D-E09F-7D5F-BDC09CEDBEDD}"/>
              </a:ext>
            </a:extLst>
          </p:cNvPr>
          <p:cNvSpPr txBox="1"/>
          <p:nvPr/>
        </p:nvSpPr>
        <p:spPr>
          <a:xfrm>
            <a:off x="1383847" y="5657671"/>
            <a:ext cx="9716544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Insight: </a:t>
            </a:r>
            <a:r>
              <a:rPr lang="en-US" sz="1600" dirty="0">
                <a:effectLst/>
                <a:latin typeface="Helvetica" pitchFamily="2" charset="0"/>
              </a:rPr>
              <a:t>The jump from Minimal → Focal Method is large. The jump from Focal Method → With Class Context is surprisingly small. Structured prompts matter more than raw context volume.</a:t>
            </a:r>
          </a:p>
        </p:txBody>
      </p:sp>
    </p:spTree>
    <p:extLst>
      <p:ext uri="{BB962C8B-B14F-4D97-AF65-F5344CB8AC3E}">
        <p14:creationId xmlns:p14="http://schemas.microsoft.com/office/powerpoint/2010/main" val="1066858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 descr="Aqua and green fractal background like floral petal">
            <a:extLst>
              <a:ext uri="{FF2B5EF4-FFF2-40B4-BE49-F238E27FC236}">
                <a16:creationId xmlns:a16="http://schemas.microsoft.com/office/drawing/2014/main" id="{15A6BDD3-D316-15F2-3F2B-F5E205688EA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t="8903" b="16083"/>
          <a:stretch>
            <a:fillRect/>
          </a:stretch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34BA972-C640-4E2E-B1AC-162A1AB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AB4EBAB6-4362-4DD4-B97E-6707AFA5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2FA5E0A6-4D2A-405F-AA56-A8E597834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0D859A-6A79-7C7F-247D-D59AA9B05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128" y="1788454"/>
            <a:ext cx="8361229" cy="20982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b="1" cap="all"/>
              <a:t>CONTRIBUTIONS</a:t>
            </a:r>
            <a:endParaRPr lang="en-US" sz="7200" cap="all"/>
          </a:p>
        </p:txBody>
      </p:sp>
    </p:spTree>
    <p:extLst>
      <p:ext uri="{BB962C8B-B14F-4D97-AF65-F5344CB8AC3E}">
        <p14:creationId xmlns:p14="http://schemas.microsoft.com/office/powerpoint/2010/main" val="1335236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9CA84-30B2-9347-92CB-987752F2B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47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Contributions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298B29A-CF5A-D10C-E328-7F0919F9D2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1640912"/>
              </p:ext>
            </p:extLst>
          </p:nvPr>
        </p:nvGraphicFramePr>
        <p:xfrm>
          <a:off x="1295400" y="2012842"/>
          <a:ext cx="9601200" cy="417856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2649542449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567746444"/>
                    </a:ext>
                  </a:extLst>
                </a:gridCol>
              </a:tblGrid>
              <a:tr h="13928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End-to-End Test Generation Pipeline</a:t>
                      </a:r>
                    </a:p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5-stage pipeline : load → prompt → generate → clean → evaluate</a:t>
                      </a:r>
                    </a:p>
                  </a:txBody>
                  <a:tcPr marL="83488" marR="8348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Ollama-Backed LLM Client (Llama3)</a:t>
                      </a:r>
                    </a:p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Locally hosted via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Ollama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zero API cost, fully offline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488" marR="83488"/>
                </a:tc>
                <a:extLst>
                  <a:ext uri="{0D108BD9-81ED-4DB2-BD59-A6C34878D82A}">
                    <a16:rowId xmlns:a16="http://schemas.microsoft.com/office/drawing/2014/main" val="3410942959"/>
                  </a:ext>
                </a:extLst>
              </a:tr>
              <a:tr h="1392856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Prompting Strategies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Compared across three prompting strategies: Minimal, Focal Method, and Class Context</a:t>
                      </a:r>
                    </a:p>
                  </a:txBody>
                  <a:tcPr marL="83488" marR="8348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 Mode Analysis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syntax_error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missing_assertions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extra_text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3488" marR="83488"/>
                </a:tc>
                <a:extLst>
                  <a:ext uri="{0D108BD9-81ED-4DB2-BD59-A6C34878D82A}">
                    <a16:rowId xmlns:a16="http://schemas.microsoft.com/office/drawing/2014/main" val="43497578"/>
                  </a:ext>
                </a:extLst>
              </a:tr>
              <a:tr h="1392856">
                <a:tc>
                  <a:txBody>
                    <a:bodyPr/>
                    <a:lstStyle/>
                    <a:p>
                      <a:pPr algn="l"/>
                      <a:r>
                        <a:rPr lang="en-US" sz="1800" b="1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Streamlit</a:t>
                      </a:r>
                      <a:r>
                        <a:rPr lang="en-US" sz="1800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Dashboard</a:t>
                      </a:r>
                    </a:p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result browser for viewing generated tests and evaluation metrics</a:t>
                      </a:r>
                    </a:p>
                  </a:txBody>
                  <a:tcPr marL="83488" marR="83488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Unit Testing</a:t>
                      </a:r>
                    </a:p>
                    <a:p>
                      <a:pPr algn="l"/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Pipeline validated using an offline echo client (no model calls required)</a:t>
                      </a:r>
                    </a:p>
                  </a:txBody>
                  <a:tcPr marL="83488" marR="83488"/>
                </a:tc>
                <a:extLst>
                  <a:ext uri="{0D108BD9-81ED-4DB2-BD59-A6C34878D82A}">
                    <a16:rowId xmlns:a16="http://schemas.microsoft.com/office/drawing/2014/main" val="71515550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0FC021-92FC-5F33-EC20-B63C13912CB5}"/>
              </a:ext>
            </a:extLst>
          </p:cNvPr>
          <p:cNvSpPr txBox="1"/>
          <p:nvPr/>
        </p:nvSpPr>
        <p:spPr>
          <a:xfrm>
            <a:off x="936432" y="1057618"/>
            <a:ext cx="26857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i="1" dirty="0">
                <a:solidFill>
                  <a:srgbClr val="4B5563"/>
                </a:solidFill>
              </a:rPr>
              <a:t>What we built and delivered.</a:t>
            </a:r>
          </a:p>
        </p:txBody>
      </p:sp>
    </p:spTree>
    <p:extLst>
      <p:ext uri="{BB962C8B-B14F-4D97-AF65-F5344CB8AC3E}">
        <p14:creationId xmlns:p14="http://schemas.microsoft.com/office/powerpoint/2010/main" val="4116406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06987E11-EC28-B23E-2C9B-0DB96E5FB7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14"/>
          <a:stretch>
            <a:fillRect/>
          </a:stretch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1C2122-09F6-E940-56F9-16E9A00D7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128" y="1788454"/>
            <a:ext cx="8361229" cy="20982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b="1" cap="all">
                <a:solidFill>
                  <a:schemeClr val="bg2"/>
                </a:solidFill>
              </a:rPr>
              <a:t>LESSONS LEARNED</a:t>
            </a:r>
            <a:endParaRPr lang="en-US" sz="7200" cap="all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834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47A06-BDB3-35B2-96F7-151479A8A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130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1E293B"/>
                </a:solidFill>
              </a:rPr>
              <a:t>What We Learned and What Comes Next.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9E9CBD-884B-19F3-FBAC-AB15529A0F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907299"/>
              </p:ext>
            </p:extLst>
          </p:nvPr>
        </p:nvGraphicFramePr>
        <p:xfrm>
          <a:off x="1013552" y="1087495"/>
          <a:ext cx="10527535" cy="450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17137">
                  <a:extLst>
                    <a:ext uri="{9D8B030D-6E8A-4147-A177-3AD203B41FA5}">
                      <a16:colId xmlns:a16="http://schemas.microsoft.com/office/drawing/2014/main" val="376797932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5807069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94559311"/>
                    </a:ext>
                  </a:extLst>
                </a:gridCol>
              </a:tblGrid>
              <a:tr h="4769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Worked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Didn't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What We'd Improve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187425"/>
                  </a:ext>
                </a:extLst>
              </a:tr>
              <a:tr h="826900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Focal-method prompts produced diverse, multi-assertion tests with genuine edge case coverage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Syntax valid ≠ logically correct - compiles doesn't mean the test is meaningful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Add </a:t>
                      </a:r>
                      <a:r>
                        <a:rPr lang="en-US" sz="1600" b="0" i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pytest-cov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actual line and branch coverage measurement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5319039"/>
                  </a:ext>
                </a:extLst>
              </a:tr>
              <a:tr h="826900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Llama3 via Ollama – reliable, low-latency test generation without API dependency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 runtime execution - real line/branch coverage was never measured (limitation)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Build a feedback loop: re-prompt the LLM with compile errors for self-correction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0870216"/>
                  </a:ext>
                </a:extLst>
              </a:tr>
              <a:tr h="826900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Modular pipeline made it easy to compare 3 prompt strategies without rewriting code</a:t>
                      </a:r>
                    </a:p>
                    <a:p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No direct comparison with ground-truth tests (evaluation limitation)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Use retrieval-based context (RAG) to inject correct imports and reduce hallucinations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759234"/>
                  </a:ext>
                </a:extLst>
              </a:tr>
              <a:tr h="826900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Static analysis (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compile()</a:t>
                      </a:r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reliably caught broken outputs without executing any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Post-processing for removing extra text was fragile and regex-dependent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Extend to more diverse focal methods across all 88,000 dataset entries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006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6157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28316-9D15-CB3E-A1CC-B570DC16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5083" y="388875"/>
            <a:ext cx="10515600" cy="66200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Big Picture Takeaway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67D67-11BD-24FF-1ACB-F479B4F3A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0748" y="1507671"/>
            <a:ext cx="9601200" cy="35814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are powerful assistants not autonomous testers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lower the effort of writing a first test draft  but every output needs human review. Syntax passing doesn't mean logic is correct.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design matters more than context volume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Focal Method prompts outperformed the full-file approach. Focused and structured beats 'dump everything in’.</a:t>
            </a:r>
          </a:p>
          <a:p>
            <a:pPr marL="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are real and worth stating honestly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manual test comparison, no runtime coverage, no semantic validation these are open problems, not failures. They define exactly where the next phase of work should go.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2071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0F0F-1343-C81C-FDF4-B46B94467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412668"/>
            <a:ext cx="9601200" cy="70361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9409F-8F22-B456-45B8-46CA8E884B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428750"/>
            <a:ext cx="9601200" cy="363013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demonstrates that LLMs can assist in unit test generation using structured, focal method-aware prompting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show giving targeted context reduces hallucinated dependencies, increases number of assertions</a:t>
            </a:r>
            <a:r>
              <a:rPr lang="en-US" sz="1800" dirty="0"/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improves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compilability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generate syntactically valid and comprehensive test cases, but lack reliable semantic understanding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work best as productivity tools instead of replacements for developers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accelerate initial test generation and expand coverage, but careful human review and refinement remain essential.</a:t>
            </a:r>
          </a:p>
        </p:txBody>
      </p:sp>
    </p:spTree>
    <p:extLst>
      <p:ext uri="{BB962C8B-B14F-4D97-AF65-F5344CB8AC3E}">
        <p14:creationId xmlns:p14="http://schemas.microsoft.com/office/powerpoint/2010/main" val="20952833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F9A0C1C-8ABC-401B-8FE9-AC9327C4C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C891C15-2591-EE17-BA30-83B0CA6C4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54186" y="634028"/>
            <a:ext cx="3355942" cy="3732835"/>
          </a:xfrm>
        </p:spPr>
        <p:txBody>
          <a:bodyPr>
            <a:normAutofit/>
          </a:bodyPr>
          <a:lstStyle/>
          <a:p>
            <a:r>
              <a:rPr lang="en-US" sz="6000"/>
              <a:t>DEMO</a:t>
            </a:r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BA5783C3-2F96-40A7-A24F-30CB07AA3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649163" y="634028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A9D08DBA-0326-4C4E-ACFB-576F3ABDD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494670" y="2016617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pic>
        <p:nvPicPr>
          <p:cNvPr id="8" name="Graphic 7" descr="Monitor">
            <a:extLst>
              <a:ext uri="{FF2B5EF4-FFF2-40B4-BE49-F238E27FC236}">
                <a16:creationId xmlns:a16="http://schemas.microsoft.com/office/drawing/2014/main" id="{D060424C-C2DD-D04E-ADE9-44DA4805D9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0879" y="1340841"/>
            <a:ext cx="4375510" cy="43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6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A1B6D57D-E82E-FF91-2B96-F8D1274D4E03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b="15714"/>
          <a:stretch>
            <a:fillRect/>
          </a:stretch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7B84A-C770-3777-0FCB-C46713F5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128" y="1788454"/>
            <a:ext cx="8361229" cy="209822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7200" cap="all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01153-E5D9-97D9-E002-89C37899E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9906" y="3956279"/>
            <a:ext cx="6831673" cy="108623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300" dirty="0">
                <a:solidFill>
                  <a:srgbClr val="191B0E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37032522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484</TotalTime>
  <Words>2685</Words>
  <Application>Microsoft Macintosh PowerPoint</Application>
  <PresentationFormat>Widescreen</PresentationFormat>
  <Paragraphs>302</Paragraphs>
  <Slides>25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Arial</vt:lpstr>
      <vt:lpstr>Franklin Gothic Book</vt:lpstr>
      <vt:lpstr>Helvetica</vt:lpstr>
      <vt:lpstr>Times New Roman</vt:lpstr>
      <vt:lpstr>Wingdings</vt:lpstr>
      <vt:lpstr>Crop</vt:lpstr>
      <vt:lpstr>LLM-Based Automatic Unit Test Generation </vt:lpstr>
      <vt:lpstr>A Focal-Method Approach</vt:lpstr>
      <vt:lpstr>PROBLEM &amp; MOTIVATION</vt:lpstr>
      <vt:lpstr>Why Unit Testing Matters</vt:lpstr>
      <vt:lpstr>The Manual Testing Bottleneck</vt:lpstr>
      <vt:lpstr>Can LLMs Help? The Promise</vt:lpstr>
      <vt:lpstr>The Reality: Where LLMs Fall Short</vt:lpstr>
      <vt:lpstr>Research Questions &amp; Objectives</vt:lpstr>
      <vt:lpstr>Approach</vt:lpstr>
      <vt:lpstr>Dataset: pyMethods2Test</vt:lpstr>
      <vt:lpstr>System Architecture: End-to-End Pipeline</vt:lpstr>
      <vt:lpstr>Technical Implementation</vt:lpstr>
      <vt:lpstr>Three Prompting Strategies</vt:lpstr>
      <vt:lpstr>EVALUATION &amp; RESULTS</vt:lpstr>
      <vt:lpstr>Evaluation Methodology &amp; Metrics</vt:lpstr>
      <vt:lpstr>Results: The Numbers at a Glance</vt:lpstr>
      <vt:lpstr>Results: Does More Context Help?</vt:lpstr>
      <vt:lpstr>CONTRIBUTIONS</vt:lpstr>
      <vt:lpstr>Project Contributions</vt:lpstr>
      <vt:lpstr>LESSONS LEARNED</vt:lpstr>
      <vt:lpstr>What We Learned and What Comes Next.</vt:lpstr>
      <vt:lpstr>The Big Picture Takeaway</vt:lpstr>
      <vt:lpstr>Conclusion</vt:lpstr>
      <vt:lpstr>DEMO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Siwani Sah</dc:creator>
  <cp:lastModifiedBy>Siwani Sah</cp:lastModifiedBy>
  <cp:revision>32</cp:revision>
  <dcterms:created xsi:type="dcterms:W3CDTF">2026-04-20T01:41:12Z</dcterms:created>
  <dcterms:modified xsi:type="dcterms:W3CDTF">2026-04-21T12:33:16Z</dcterms:modified>
</cp:coreProperties>
</file>